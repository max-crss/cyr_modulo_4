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9B7BE7-56A8-4393-BB14-5026C37CB016}">
  <a:tblStyle styleId="{A39B7BE7-56A8-4393-BB14-5026C37CB0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3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23.png"/><Relationship Id="rId13" Type="http://schemas.openxmlformats.org/officeDocument/2006/relationships/image" Target="../media/image18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9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1762" y="5457825"/>
            <a:ext cx="6848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250" y="95250"/>
            <a:ext cx="2857500" cy="1173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07009"/>
            <a:ext cx="2857500" cy="1173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1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671759" y="796819"/>
            <a:ext cx="7050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Instalación de </a:t>
            </a:r>
            <a:r>
              <a:rPr b="1" i="0" lang="en-US" sz="39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Canaletas PVC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Conectividad de Redes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047875" y="430530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 de Operación y Estándares para el Taller Técnico del día Martes. Especialidad de Conectividad y Redes.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250" y="9525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2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489975" y="358362"/>
            <a:ext cx="762000" cy="47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441975" y="405987"/>
            <a:ext cx="72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01. Seguridad y Herramientas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708675" y="1781162"/>
            <a:ext cx="6667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base de una instalación profesional de telecomunicaciones radica en la protección personal (EPP) y la selección correcta del instrumental técnico.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5437" y="1831627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3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34125" y="2190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Elementos de Protección Personal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3537" y="1869727"/>
            <a:ext cx="33528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762750" y="2466975"/>
            <a:ext cx="4667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Lentes de Seguridad: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Protegen contra partículas volantes al taladrar muros o realizar el corte de canaletas de PVC.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62750" y="3187005"/>
            <a:ext cx="4667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Guantes de Cabritilla o Nitrilo: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Previenen cortes accidentales durante el uso de la segueta o la tijera de canaletas.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62750" y="3907035"/>
            <a:ext cx="4667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Calzado de Seguridad: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Indispensable con punta de composite para aislamiento dieléctrico y evitar accidentes por caída de herramientas.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4812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20129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3921323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Seguridad en la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Instalación (EPP)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69740"/>
            <a:ext cx="33654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969740"/>
            <a:ext cx="33654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69740"/>
            <a:ext cx="33654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4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7463" y="2312640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429523" y="3265140"/>
            <a:ext cx="20302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Montaje y Fijación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57275" y="372234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Taladro percutor de alta velocidad, destornilladores punta estrella/paleta, martillo y nivel de burbuja para asegurar tramos simétricos.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38663" y="2312640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360759" y="3265140"/>
            <a:ext cx="14701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Corte de PVC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708475" y="372234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Arco de sierra (segueta) con hoja de dientes finos y una caja de ingletes para lograr ángulos precisos sin deformar el ducto.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89864" y="2312640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816935" y="3265140"/>
            <a:ext cx="18602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Conectorización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359675" y="372234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Crimpeadora RJ-45 profesional, pelacables UTP y ponchadora de impacto (punch-down tool) para terminales hembra.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92250" y="251742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43451" y="251742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56551" y="251742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Herramientas del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Instalador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335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5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86450" y="326212"/>
            <a:ext cx="762000" cy="47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2928464" y="416712"/>
            <a:ext cx="657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02. Instalación Paso a Paso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933700" y="1556137"/>
            <a:ext cx="6667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correcta estructuración mecánica de la canalización determina no solo el aspecto estético, sino también el blindaje de la señal de datos frente a ruidos.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36377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6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1916459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Montaje Técnico de la Base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45902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1190625" y="2192684"/>
            <a:ext cx="4667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1: Medición y Trazado: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 el nivel de burbuja para proyectar líneas rectas. Marque los puntos de perforación cada 30-40 cm en el muro.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90625" y="3187005"/>
            <a:ext cx="4667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2: Perforación: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Utilice broca de 6mm para concreto o tabiquería. Introduzca los tarugos plásticos hasta el ras de la pared.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90625" y="4181326"/>
            <a:ext cx="4667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Paso 3: Ajuste y Fijación: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Atornille firmemente la base de la canaleta sin doblar el perfil de PVC. Conserve las rutas aisladas de ruidos eléctricos.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20697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195613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Trazado y Fijación de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Canaleta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81700"/>
            <a:ext cx="50958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904875" y="571500"/>
            <a:ext cx="5200650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Curva a 90°: Corte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Inglete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857750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7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2493615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Esquinas Simétricas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2769840"/>
            <a:ext cx="50958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esquinas estéticas, realizamos un corte a 45° en la base y tapa usando la caja de ingletes. Al unir ambos extremos, formamos un acople perfecto de 90° que protege los cables sin quebrar su radio de curvatura.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190625" y="4152751"/>
            <a:ext cx="4667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Radio de curvatura mínimo: 4 veces el diámetro del cable UTP.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71801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250" y="9525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8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865025" y="409581"/>
            <a:ext cx="762000" cy="47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801177" y="409581"/>
            <a:ext cx="87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03. Conectividad y Norma TIA-568B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2762250" y="1420431"/>
            <a:ext cx="6667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conectorización bajo normas internacionales asegura el correcto funcionamiento eléctrico y la minimización de ruidos por inducción (diafonía) en la transmisión de datos.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74527"/>
            <a:ext cx="50958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36377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5765" y="28984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15765" y="344135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5765" y="398427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15765" y="452720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0429875" y="6134100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9</a:t>
            </a:r>
            <a:endParaRPr/>
          </a:p>
        </p:txBody>
      </p:sp>
      <p:graphicFrame>
        <p:nvGraphicFramePr>
          <p:cNvPr id="220" name="Google Shape;220;p21"/>
          <p:cNvGraphicFramePr/>
          <p:nvPr/>
        </p:nvGraphicFramePr>
        <p:xfrm>
          <a:off x="771525" y="21840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{A39B7BE7-56A8-4393-BB14-5026C37CB016}</a:tableStyleId>
              </a:tblPr>
              <a:tblGrid>
                <a:gridCol w="1315650"/>
                <a:gridCol w="3761175"/>
              </a:tblGrid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Código de Color Normalizado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Pin 1 y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Blanco/Naranja - Naranja</a:t>
                      </a: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Pin 3 y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Blanco/Verde - Verde</a:t>
                      </a: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Pin 4 y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Azul - Blanco/Azul</a:t>
                      </a: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Pin 7 y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Blanco/Marrón - Marrón</a:t>
                      </a:r>
                      <a:b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21" name="Google Shape;22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43650" y="1745902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771525" y="2717452"/>
            <a:ext cx="131564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087165" y="2717452"/>
            <a:ext cx="376118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71525" y="3274665"/>
            <a:ext cx="13156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087165" y="3274665"/>
            <a:ext cx="37611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71525" y="3817590"/>
            <a:ext cx="13156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087165" y="3817590"/>
            <a:ext cx="37611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71525" y="4360515"/>
            <a:ext cx="13156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087165" y="4360515"/>
            <a:ext cx="376118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658665" y="2922240"/>
            <a:ext cx="1695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Blanco/Naranja - Naranja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2658665" y="3465165"/>
            <a:ext cx="1466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Blanco/Verde - Verde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2658665" y="4008090"/>
            <a:ext cx="1228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Azul - Blanco/Azul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2658665" y="4551015"/>
            <a:ext cx="1676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Blanco/Marrón - Marrón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Código de Colores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TIA-568B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41190"/>
            <a:ext cx="5095875" cy="2809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41190"/>
            <a:ext cx="5095875" cy="2809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0344150" y="61341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10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152525" y="2531715"/>
            <a:ext cx="45305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Conector RJ-45 Macho (Plug)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52525" y="3046065"/>
            <a:ext cx="431482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Utilizado para cableado patch cord flexible de categoría 6. Requiere pelar 2.5 cm de la chaqueta externa, alinear los filamentos según el código de colores B, cortarlos de forma pareja a 1.2 cm y presionar con la crimpeadora hasta asegurar la traba física del plug.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24650" y="2531715"/>
            <a:ext cx="45305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Jack RJ-45 Hembra y Faceplate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24650" y="3046065"/>
            <a:ext cx="431482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Interfaz física empotrada en muro donde se conecta el usuario. Requiere la utilización del punch-down tool para fijar e insertar los hilos en las ranuras IDC del Jack de acuerdo al mapa 'B' serigrafiado en el lateral. Se fija a presión en la placa frontal o faceplate.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Módulos Macho y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Femeninos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69777"/>
            <a:ext cx="106680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62000" y="613410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3°MTP INSTALACIÓN DE REDES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344150" y="61341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DIAPOSITIVA 11</a:t>
            </a:r>
            <a:endParaRPr/>
          </a:p>
        </p:txBody>
      </p:sp>
      <p:graphicFrame>
        <p:nvGraphicFramePr>
          <p:cNvPr id="261" name="Google Shape;261;p23"/>
          <p:cNvGraphicFramePr/>
          <p:nvPr/>
        </p:nvGraphicFramePr>
        <p:xfrm>
          <a:off x="771525" y="22793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{A39B7BE7-56A8-4393-BB14-5026C37CB016}</a:tableStyleId>
              </a:tblPr>
              <a:tblGrid>
                <a:gridCol w="2705400"/>
                <a:gridCol w="2868375"/>
                <a:gridCol w="5075175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Etapa de Instalación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Estándar / Norma de Calidad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Requisito Crítico de Taller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Fijación de la Canaleta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ANSI/TIA/EIA-569-A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Perforación recta y colocación de tarugos cada 30-40 cm en muro.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Conectorización Macho/Hembra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ANSI/TIA/EIA-568-B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Código de colores T568B con destrenzado menor a 13 mm.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Verificación de Conexión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Cualificador de Red / LAN Tester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 de mapeo de hilos sin inversión, cruzamientos ni hilos abiertos.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Identificación y Etiquetado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ANSI/TIA/EIA-606-A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Rotulación unívoca con el ID de Localización y Número de toma de red.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23"/>
          <p:cNvSpPr/>
          <p:nvPr/>
        </p:nvSpPr>
        <p:spPr>
          <a:xfrm>
            <a:off x="771525" y="2812702"/>
            <a:ext cx="27053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476922" y="2812702"/>
            <a:ext cx="286836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345287" y="2812702"/>
            <a:ext cx="507518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771525" y="3322290"/>
            <a:ext cx="27053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476922" y="3322290"/>
            <a:ext cx="28683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345287" y="3322290"/>
            <a:ext cx="50751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71525" y="3817590"/>
            <a:ext cx="27053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476922" y="3817590"/>
            <a:ext cx="28683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345287" y="3817590"/>
            <a:ext cx="50751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771525" y="4312890"/>
            <a:ext cx="270539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476922" y="4312890"/>
            <a:ext cx="28683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345287" y="4312890"/>
            <a:ext cx="50751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904875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Parámetros de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84015"/>
            <a:ext cx="106680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50890"/>
            <a:ext cx="10668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1057275" y="2131665"/>
            <a:ext cx="105813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¿Cuál es el requisito de destrenzado máximo del cable UTP al crimpear?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057275" y="2512665"/>
            <a:ext cx="10077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 acuerdo al estándar TIA-568B, el destrenzado de los hilos de cobre de par trenzado no debe superar los 13 mm (0.5 pulgadas) para evitar interferencias por diafonía.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057275" y="3798540"/>
            <a:ext cx="105813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¿Cuál es la función del punch-down tool o ponchadora de impacto?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057275" y="4179540"/>
            <a:ext cx="10077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 insertar y fijar los filamentos del cable UTP de manera precisa en los contactos IDC de un Jack RJ-45 hembra, realizando el corte automático del excedente.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41746" y="571500"/>
            <a:ext cx="11051381" cy="44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Ticket de Salida: </a:t>
            </a:r>
            <a:r>
              <a:rPr b="1" i="0" lang="en-US" sz="28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Evaluación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762000" y="571500"/>
            <a:ext cx="47625" cy="4438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762000" y="613410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¡Prepárate para la sesión práctica de la instalación de redes este Martes!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