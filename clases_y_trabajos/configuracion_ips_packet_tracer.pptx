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89120"/>
            <a:ext cx="12191695" cy="73152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000">
                <a:solidFill>
                  <a:srgbClr val="FFFFFF"/>
                </a:solidFill>
              </a:rPr>
              <a:t>Configuración de Direcciones 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600">
                <a:solidFill>
                  <a:srgbClr val="BDD7EE"/>
                </a:solidFill>
              </a:rPr>
              <a:t>en Cisco Packet Tracer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017520"/>
            <a:ext cx="4114800" cy="45720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800">
                <a:solidFill>
                  <a:srgbClr val="BDD7EE"/>
                </a:solidFill>
              </a:rPr>
              <a:t>Clase Técnica de Redes  |  Red 192.168.1.0/24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600">
                <a:solidFill>
                  <a:srgbClr val="FFFFFF"/>
                </a:solidFill>
              </a:rPr>
              <a:t>Asignación de IP a Routers y Computadores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BDD7EE"/>
                </a:solidFill>
              </a:rPr>
              <a:t>Cisco Packet Tracer  ·  Nivel técnico  ·  Español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6400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BDD7EE"/>
                </a:solidFill>
              </a:rPr>
              <a:t>Al finalizar, el estudiante será capaz de: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404040"/>
                </a:solidFill>
              </a:rPr>
              <a:t>▸ Comprender qué es una dirección IP y su función en la red.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404040"/>
                </a:solidFill>
              </a:rPr>
              <a:t>▸ Diferenciar dirección de red, host, máscara de subred y gateway.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404040"/>
                </a:solidFill>
              </a:rPr>
              <a:t>▸ Configurar una dirección IP en un router usando la CLI de Packet Tracer.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404040"/>
                </a:solidFill>
              </a:rPr>
              <a:t>▸ Configurar una dirección IP en un computador usando el menú Desktop.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404040"/>
                </a:solidFill>
              </a:rPr>
              <a:t>▸ Verificar la conectividad entre dispositivos con el comando ping.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404040"/>
                </a:solidFill>
              </a:rPr>
              <a:t>▸ Aplicar correctamente la regla de direccionamiento de la práctica.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¿Qué es una Dirección IP?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404040"/>
                </a:solidFill>
              </a:rPr>
              <a:t>Una dirección IP es un identificador lógico único que permite que un dispositivo se comunique dentro de una red de datos.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840480" cy="3200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Ejemplos de 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F396E"/>
                </a:solidFill>
              </a:rPr>
              <a:t>● 192.168.1.1  → Router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F396E"/>
                </a:solidFill>
              </a:rPr>
              <a:t>● 192.168.1.10 → PC 1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F396E"/>
                </a:solidFill>
              </a:rPr>
              <a:t>● 192.168.1.11 → PC 2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F396E"/>
                </a:solidFill>
              </a:rPr>
              <a:t>● 192.168.1.25 → PC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468880"/>
            <a:ext cx="6949440" cy="3200400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6060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E87A10"/>
                </a:solidFill>
              </a:rPr>
              <a:t>Reglas fundamentales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017520"/>
            <a:ext cx="6583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</a:rPr>
              <a:t>⚠ Cada dispositivo debe tener una IP única en la red.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</a:rPr>
              <a:t>⚠ Las IP no se pueden repetir dentro del mismo segmento.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</a:rPr>
              <a:t>⚠ La dirección de red (192.168.1.0) no se asigna a ningún host.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</a:rPr>
              <a:t>⚠ La dirección de broadcast (192.168.1.255) tampoco.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Parámetros Básicos de Configuración IP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926080" cy="10058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Dirección 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286000" cy="10058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45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192.168.1.10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600200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Identifica al dispositivo en la 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32888"/>
            <a:ext cx="292608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786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Máscara de subred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532888"/>
            <a:ext cx="2286000" cy="10058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7614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255.255.255.0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715768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Define qué parte es red y qué parte es host.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48456"/>
            <a:ext cx="2926080" cy="1005840"/>
          </a:xfrm>
          <a:prstGeom prst="rect">
            <a:avLst/>
          </a:prstGeom>
          <a:solidFill>
            <a:srgbClr val="1770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9417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Puerta de enlace
(Default Gateway)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3648456"/>
            <a:ext cx="2286000" cy="10058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387705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192.168.1.1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831336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IP del router que da salida a otras redes.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64024"/>
            <a:ext cx="2926080" cy="1005840"/>
          </a:xfrm>
          <a:prstGeom prst="rect">
            <a:avLst/>
          </a:prstGeom>
          <a:solidFill>
            <a:srgbClr val="2E9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0974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DNS (opcional)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4764024"/>
            <a:ext cx="2286000" cy="10058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499262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8.8.8.8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946904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Resuelve nombres de dominio a 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Red de Trabajo: 192.168.1.0/24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30000" cy="91440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FFFFFF"/>
                </a:solidFill>
              </a:rPr>
              <a:t>En esta práctica trabajaremos con la red  192.168.1.0  con máscara /24 (255.255.255.0)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3474720" cy="566928"/>
          </a:xfrm>
          <a:prstGeom prst="rect">
            <a:avLst/>
          </a:prstGeom>
          <a:solidFill>
            <a:srgbClr val="C0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963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Dirección de 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423160"/>
            <a:ext cx="274320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4963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1F396E"/>
                </a:solidFill>
              </a:rPr>
              <a:t>192.168.1.0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5328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04040"/>
                </a:solidFill>
              </a:rPr>
              <a:t>No se asigna a ningún host.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39"/>
            <a:ext cx="3474720" cy="566928"/>
          </a:xfrm>
          <a:prstGeom prst="rect">
            <a:avLst/>
          </a:prstGeom>
          <a:solidFill>
            <a:srgbClr val="17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3639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Primer host útil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3063239"/>
            <a:ext cx="274320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3136391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1F396E"/>
                </a:solidFill>
              </a:rPr>
              <a:t>192.168.1.1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1729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04040"/>
                </a:solidFill>
              </a:rPr>
              <a:t>Primera IP disponible para equipos.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03320"/>
            <a:ext cx="3474720" cy="566928"/>
          </a:xfrm>
          <a:prstGeom prst="rect">
            <a:avLst/>
          </a:prstGeom>
          <a:solidFill>
            <a:srgbClr val="17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764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Último host útil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3703320"/>
            <a:ext cx="274320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37764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1F396E"/>
                </a:solidFill>
              </a:rPr>
              <a:t>192.168.1.254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8130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04040"/>
                </a:solidFill>
              </a:rPr>
              <a:t>Última IP disponible para equipos.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43400"/>
            <a:ext cx="3474720" cy="566928"/>
          </a:xfrm>
          <a:prstGeom prst="rect">
            <a:avLst/>
          </a:prstGeom>
          <a:solidFill>
            <a:srgbClr val="C0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165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Broadcast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343400"/>
            <a:ext cx="274320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39" y="44165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1F396E"/>
                </a:solidFill>
              </a:rPr>
              <a:t>192.168.1.255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4531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04040"/>
                </a:solidFill>
              </a:rPr>
              <a:t>No se asigna a ningún host.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83480"/>
            <a:ext cx="34747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Máscara de subred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86200" y="4983480"/>
            <a:ext cx="274320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5056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1F396E"/>
                </a:solidFill>
              </a:rPr>
              <a:t>255.255.255.0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09320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04040"/>
                </a:solidFill>
              </a:rPr>
              <a:t>Equivalente a /24 en notación CIDR.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623560"/>
            <a:ext cx="34747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6967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Total de hosts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5623560"/>
            <a:ext cx="274320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77639" y="5696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1F396E"/>
                </a:solidFill>
              </a:rPr>
              <a:t>254 hosts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7332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04040"/>
                </a:solidFill>
              </a:rPr>
              <a:t>Desde .1 hasta .254 disponibles.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Regla de Direccionamiento para la Práctica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77440"/>
            <a:ext cx="11612880" cy="96012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4231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FFFFFF"/>
                </a:solidFill>
              </a:rPr>
              <a:t>192.168.1.0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C00404"/>
                </a:solidFill>
              </a:rPr>
              <a:t>Dirección de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9077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No se asigna a ningún host. Identifica al segmento completo.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520440"/>
            <a:ext cx="11612880" cy="960120"/>
          </a:xfrm>
          <a:prstGeom prst="rect">
            <a:avLst/>
          </a:prstGeom>
          <a:solidFill>
            <a:srgbClr val="E8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5661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FFFFFF"/>
                </a:solidFill>
              </a:rPr>
              <a:t>192.168.1.1  →  192.168.1.9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FFFFFF"/>
                </a:solidFill>
              </a:rPr>
              <a:t>Reservado para Routers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050791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Las primeras IP útiles se destinan exclusivamente a interfaces de routers.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63440"/>
            <a:ext cx="11612880" cy="960120"/>
          </a:xfrm>
          <a:prstGeom prst="rect">
            <a:avLst/>
          </a:prstGeom>
          <a:solidFill>
            <a:srgbClr val="17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70915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FFFFFF"/>
                </a:solidFill>
              </a:rPr>
              <a:t>192.168.1.10  en adelante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709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FFFFFF"/>
                </a:solidFill>
              </a:rPr>
              <a:t>Computadores y dispositivos finales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1937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PCs, impresoras, teléfonos IP y cualquier dispositivo host usarán este rango.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Ejemplo rápido: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17830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F396E"/>
                </a:solidFill>
              </a:rPr>
              <a:t>→ Router 1 → 192.168.1.1   |   Router 2 → 192.168.1.2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F396E"/>
                </a:solidFill>
              </a:rPr>
              <a:t>→ PC 1 → 192.168.1.10      |   PC 2 → 192.168.1.11     |   PC 3 → 192.168.1.12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Rango Reservado para Routers: 192.168.1.1 – 192.168.1.9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04040"/>
                </a:solidFill>
              </a:rPr>
              <a:t>Los routers actúan como puertas de enlace (gateways) y se configuran con las primeras IP disponibles del segmento para facilitar su administración.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5029200" cy="3749039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IPs reservadas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F396E"/>
                </a:solidFill>
              </a:rPr>
              <a:t>  192.168.1.1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396E"/>
                </a:solidFill>
              </a:rPr>
              <a:t>  192.168.1.2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396E"/>
                </a:solidFill>
              </a:rPr>
              <a:t>  192.168.1.3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396E"/>
                </a:solidFill>
              </a:rPr>
              <a:t>  192.168.1.4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396E"/>
                </a:solidFill>
              </a:rPr>
              <a:t>  192.168.1.5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396E"/>
                </a:solidFill>
              </a:rPr>
              <a:t>  192.168.1.6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396E"/>
                </a:solidFill>
              </a:rPr>
              <a:t>  192.168.1.7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396E"/>
                </a:solidFill>
              </a:rPr>
              <a:t>  192.168.1.8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396E"/>
                </a:solidFill>
              </a:rPr>
              <a:t>  192.168.1.9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286000"/>
            <a:ext cx="6035040" cy="3749039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3774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E87A10"/>
                </a:solidFill>
              </a:rPr>
              <a:t>¿Por qué reservarlas?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669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▸ El router es siempre el dispositivo más crítico de la red.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▸ Tener un rango fijo facilita la administración.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▸ Permite identificar rápidamente los dispositivos de red.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▸ Evita conflictos de IP al agregar nuevos equipos.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▸ Es una práctica estándar en entornos profesionales.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Rango para Computadores: 192.168.1.10 en Adelante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04040"/>
                </a:solidFill>
              </a:rPr>
              <a:t>Los dispositivos finales (PCs, laptops, impresoras, etc.) usarán direcciones a partir de 192.168.1.10, manteniendo el orden de la 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2514600" cy="5486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Dispositivo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286000"/>
            <a:ext cx="2697480" cy="5486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35915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Dirección 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286000"/>
            <a:ext cx="2697480" cy="5486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235915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Máscara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2286000"/>
            <a:ext cx="2697480" cy="5486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35915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</a:rPr>
              <a:t>Gateway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62072"/>
            <a:ext cx="2514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35224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PC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2862072"/>
            <a:ext cx="2697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2935224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192.168.1.10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862072"/>
            <a:ext cx="2697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59" y="2935224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255.255.255.0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862072"/>
            <a:ext cx="2697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2935224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192.168.1.1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38144"/>
            <a:ext cx="251460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511296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PC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3438144"/>
            <a:ext cx="269748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3511296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192.168.1.11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3438144"/>
            <a:ext cx="269748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59" y="3511296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255.255.255.0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49640" y="3438144"/>
            <a:ext cx="269748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3511296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192.168.1.1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14215"/>
            <a:ext cx="2514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0873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PC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4014215"/>
            <a:ext cx="2697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08736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192.168.1.12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4014215"/>
            <a:ext cx="2697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59" y="408736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255.255.255.0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2697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8736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192.168.1.1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590288"/>
            <a:ext cx="251460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663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Laptop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71800" y="4590288"/>
            <a:ext cx="269748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63240" y="4663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192.168.1.13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4590288"/>
            <a:ext cx="269748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59" y="4663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255.255.255.0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4590288"/>
            <a:ext cx="269748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4663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192.168.1.1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166359"/>
            <a:ext cx="2514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23951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Impresora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71800" y="5166359"/>
            <a:ext cx="2697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63240" y="523951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192.168.1.20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0" y="5166359"/>
            <a:ext cx="2697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59" y="523951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255.255.255.0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49640" y="5166359"/>
            <a:ext cx="2697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41080" y="523951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192.168.1.1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Configurar IP en un Computador — Packet Tracer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BDD7EE"/>
                </a:solidFill>
              </a:rPr>
              <a:t>Ruta: Clic en PC → Desktop → IP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502920" cy="530352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721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Hacer clic en la PC dentro del área de trabajo de Packet Tracer.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20824"/>
            <a:ext cx="502920" cy="530352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0756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6654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En la ventana que aparece, hacer clic en la pestaña  Desktop.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24328"/>
            <a:ext cx="502920" cy="530352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6791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70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Seleccionar la opción  IP Configuration.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27832"/>
            <a:ext cx="502920" cy="530352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28269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735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Seleccionar la opción  Static  para asignar una IP manual.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31336"/>
            <a:ext cx="502920" cy="530352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886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770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En el campo  IP Address  escribir la IP asignada a esa PC
       Ejemplo: 192.168.1.10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434840"/>
            <a:ext cx="502920" cy="530352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4897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En  Subnet Mask  escribir la máscara:  255.255.255.0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038344"/>
            <a:ext cx="502920" cy="530352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0932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840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En  Default Gateway  escribir la IP del router:  192.168.1.1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641848"/>
            <a:ext cx="502920" cy="530352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6967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875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Cerrar la ventana. La configuración queda guardada automáticamente.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Ejemplo Completo: Configuración de dos PCs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669280" cy="5029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5669280" cy="64008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PC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IP Address: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2E75B6"/>
                </a:solidFill>
              </a:rPr>
              <a:t>192.168.1.10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Subnet Mask: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2E75B6"/>
                </a:solidFill>
              </a:rPr>
              <a:t>255.255.255.0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59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Default Gateway: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78A35"/>
                </a:solidFill>
              </a:rPr>
              <a:t>192.168.1.1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DNS (opcional):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404040"/>
                </a:solidFill>
              </a:rPr>
              <a:t>8.8.8.8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800600"/>
            <a:ext cx="5669280" cy="73152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1947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178A35"/>
                </a:solidFill>
              </a:rPr>
              <a:t>✔ Ambas PCs en la misma red → pueden comunicarse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371600"/>
            <a:ext cx="5669280" cy="5029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371600"/>
            <a:ext cx="5669280" cy="64008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PC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IP Address: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2E75B6"/>
                </a:solidFill>
              </a:rPr>
              <a:t>192.168.1.11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Subnet Mask: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2E75B6"/>
                </a:solidFill>
              </a:rPr>
              <a:t>255.255.255.0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Default Gateway: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78A35"/>
                </a:solidFill>
              </a:rPr>
              <a:t>192.168.1.1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DNS (opcional):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404040"/>
                </a:solidFill>
              </a:rPr>
              <a:t>8.8.8.8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800600"/>
            <a:ext cx="5669280" cy="73152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91947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178A35"/>
                </a:solidFill>
              </a:rPr>
              <a:t>✔ Ambas PCs en la misma red → pueden comunicarse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Configurar IP en un Router — CLI de Packet Tracer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BDD7EE"/>
                </a:solidFill>
              </a:rPr>
              <a:t>Ruta: Clic en Router → CLI → Ingrese los comandos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502920" cy="530352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721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Hacer clic en el router en el área de trabajo.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20824"/>
            <a:ext cx="502920" cy="530352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0756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6654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Ir a la pestaña  CLI  (Command Line Interface).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24328"/>
            <a:ext cx="502920" cy="530352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6791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70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Escribir  enable  y presionar Enter para entrar al modo privilegiado.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27832"/>
            <a:ext cx="502920" cy="530352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28269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735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Escribir  configure terminal  para entrar al modo de configuración global.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31336"/>
            <a:ext cx="502920" cy="530352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886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770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Ingresar a la interfaz:  interface gigabitEthernet 0/0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434840"/>
            <a:ext cx="502920" cy="530352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4897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Asignar IP y máscara:  ip address 192.168.1.1 255.255.255.0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038344"/>
            <a:ext cx="502920" cy="530352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0932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840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Activar la interfaz:  no shutdown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641848"/>
            <a:ext cx="502920" cy="530352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6967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875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Salir:  exit   Guardar (opcional):  copy running-config startup-config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Comandos CLI del Router — Ejemplo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04040"/>
                </a:solidFill>
              </a:rPr>
              <a:t>Configuración de la interfaz GigabitEthernet 0/0 del Router 1 con IP 192.168.1.1: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11430000" cy="3291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111556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8FF78"/>
                </a:solidFill>
                <a:latin typeface="Courier New"/>
              </a:rPr>
              <a:t>Router&gt; enable</a:t>
            </a:r>
          </a:p>
          <a:p>
            <a:r>
              <a:rPr sz="1600">
                <a:solidFill>
                  <a:srgbClr val="A8FF78"/>
                </a:solidFill>
                <a:latin typeface="Courier New"/>
              </a:rPr>
              <a:t>Router# configure terminal</a:t>
            </a:r>
          </a:p>
          <a:p>
            <a:r>
              <a:rPr sz="1600">
                <a:solidFill>
                  <a:srgbClr val="A8FF78"/>
                </a:solidFill>
                <a:latin typeface="Courier New"/>
              </a:rPr>
              <a:t>Router(config)# interface gigabitEthernet 0/0</a:t>
            </a:r>
          </a:p>
          <a:p>
            <a:r>
              <a:rPr sz="1600">
                <a:solidFill>
                  <a:srgbClr val="A8FF78"/>
                </a:solidFill>
                <a:latin typeface="Courier New"/>
              </a:rPr>
              <a:t>Router(config-if)# ip address 192.168.1.1 255.255.255.0</a:t>
            </a:r>
          </a:p>
          <a:p>
            <a:r>
              <a:rPr sz="1600">
                <a:solidFill>
                  <a:srgbClr val="A8FF78"/>
                </a:solidFill>
                <a:latin typeface="Courier New"/>
              </a:rPr>
              <a:t>Router(config-if)# no shutdown</a:t>
            </a:r>
          </a:p>
          <a:p>
            <a:r>
              <a:rPr sz="1600">
                <a:solidFill>
                  <a:srgbClr val="A8FF78"/>
                </a:solidFill>
                <a:latin typeface="Courier New"/>
              </a:rPr>
              <a:t>Router(config-if)# exit</a:t>
            </a:r>
          </a:p>
          <a:p>
            <a:r>
              <a:rPr sz="1600">
                <a:solidFill>
                  <a:srgbClr val="A8FF78"/>
                </a:solidFill>
                <a:latin typeface="Courier New"/>
              </a:rPr>
              <a:t>Router(config)# exit</a:t>
            </a:r>
          </a:p>
          <a:p>
            <a:r>
              <a:rPr sz="1600">
                <a:solidFill>
                  <a:srgbClr val="A8FF78"/>
                </a:solidFill>
                <a:latin typeface="Courier New"/>
              </a:rPr>
              <a:t>Router# copy running-config startup-config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4406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178A35"/>
                </a:solidFill>
              </a:rPr>
              <a:t>✔  Después de  no shutdown  la interfaz cambia a estado UP (verde en Packet Tracer).
✔  copy running-config startup-config  guarda la configuración permanentemente.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La Puerta de Enlace (Default Gateway)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04040"/>
                </a:solidFill>
              </a:rPr>
              <a:t>El gateway es la dirección IP del router. Permite que los hosts salgan de su red local y se comuniquen con otras redes (internet u otras subredes).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5303520" cy="36576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En esta práctica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→ Router 1 tiene la IP  192.168.1.1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→ Esa IP es el gateway de todas las PCs.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→ PC 1 (192.168.1.10) → gateway: 192.168.1.1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→ PC 2 (192.168.1.11) → gateway: 192.168.1.1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→ Sin gateway correcto, la PC no sale de la 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331720"/>
            <a:ext cx="5760720" cy="3657600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423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E87A10"/>
                </a:solidFill>
              </a:rPr>
              <a:t>¿Qué pasa sin gateway?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5394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✘ La PC puede comunicarse solo dentro de su red local.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✘ No puede alcanzar otras redes ni internet.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✘ El ping al router fallará si el gateway es incorrecto.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✘ Error más común: poner la IP de la PC como gateway.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Verificación de Conectividad con 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04040"/>
                </a:solidFill>
              </a:rPr>
              <a:t>Después de configurar los dispositivos, se debe verificar la conectividad usando el comando  ping  desde el modo de simulación de Packet Tracer.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86000"/>
            <a:ext cx="1645920" cy="10515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Ping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163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300">
                <a:solidFill>
                  <a:srgbClr val="BDD7EE"/>
                </a:solidFill>
              </a:rPr>
              <a:t>PC 1 → Router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286000"/>
            <a:ext cx="4114800" cy="1051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5603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A8FF78"/>
                </a:solidFill>
              </a:rPr>
              <a:t>ping 192.168.1.1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5603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Verifica que la PC llega al router (gateway).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1645920" cy="10515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5478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Ping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03250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300">
                <a:solidFill>
                  <a:srgbClr val="BDD7EE"/>
                </a:solidFill>
              </a:rPr>
              <a:t>PC 1 → PC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502152"/>
            <a:ext cx="4114800" cy="1051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377647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A8FF78"/>
                </a:solidFill>
              </a:rPr>
              <a:t>ping 192.168.1.11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7647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Verifica comunicación entre computadores.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718304"/>
            <a:ext cx="1645920" cy="10515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76402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Ping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24865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300">
                <a:solidFill>
                  <a:srgbClr val="BDD7EE"/>
                </a:solidFill>
              </a:rPr>
              <a:t>Router → PC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4718304"/>
            <a:ext cx="4114800" cy="1051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499262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A8FF78"/>
                </a:solidFill>
              </a:rPr>
              <a:t>ping 192.168.1.10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99262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404040"/>
                </a:solidFill>
              </a:rPr>
              <a:t>Verifica la ruta desde el router hacia la PC.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669280"/>
            <a:ext cx="11430000" cy="59436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15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178A35"/>
                </a:solidFill>
              </a:rPr>
              <a:t>✔  Si el ping responde con tiempos en ms → configuración correcta.   ✘  Si muestra 'Request timeout' → revisar IP, máscara, gateway y cableado.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Errores Comunes y Cómo Corregirlos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926080" cy="41148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538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17320"/>
            <a:ext cx="4389120" cy="41148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Síntoma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417320"/>
            <a:ext cx="4389120" cy="41148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45389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Corrección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56232"/>
            <a:ext cx="2926080" cy="649224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911096"/>
            <a:ext cx="2743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IP duplicada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856232"/>
            <a:ext cx="4389120" cy="649224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911096"/>
            <a:ext cx="4206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Dos dispositivos con la misma 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856232"/>
            <a:ext cx="4389120" cy="6492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911096"/>
            <a:ext cx="4206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Asignar una IP única a cada equipo.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42032"/>
            <a:ext cx="2926080" cy="649224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596896"/>
            <a:ext cx="2743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Máscara incorrecta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542032"/>
            <a:ext cx="4389120" cy="649224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596896"/>
            <a:ext cx="4206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Diferente máscara en dispositivos del mismo segmento.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542032"/>
            <a:ext cx="4389120" cy="6492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596896"/>
            <a:ext cx="4206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Usar 255.255.255.0 en todos los equipos de la red.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227832"/>
            <a:ext cx="2926080" cy="649224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282696"/>
            <a:ext cx="2743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Gateway incorrecto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227832"/>
            <a:ext cx="4389120" cy="649224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282696"/>
            <a:ext cx="4206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IP del gateway mal escrita o de otra red.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3227832"/>
            <a:ext cx="4389120" cy="6492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282696"/>
            <a:ext cx="4206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Escribir exactamente la IP del router (192.168.1.1).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913632"/>
            <a:ext cx="2926080" cy="649224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968496"/>
            <a:ext cx="2743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Interfaz del router apagada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3913632"/>
            <a:ext cx="4389120" cy="649224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3968496"/>
            <a:ext cx="4206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La interfaz está en estado shutdown (DOWN).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913632"/>
            <a:ext cx="4389120" cy="6492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3968496"/>
            <a:ext cx="4206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Ejecutar  no shutdown  en la interfaz del router.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599432"/>
            <a:ext cx="2926080" cy="649224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654296"/>
            <a:ext cx="2743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Cableado incorrecto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4599432"/>
            <a:ext cx="4389120" cy="649224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4654296"/>
            <a:ext cx="4206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Cables mal conectados o tipo de cable equivocado.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4599432"/>
            <a:ext cx="4389120" cy="6492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4654296"/>
            <a:ext cx="4206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Verificar conexiones y usar cable correcto (straight/crossover).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285232"/>
            <a:ext cx="2926080" cy="649224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340096"/>
            <a:ext cx="2743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IP fuera del rango de la 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5285232"/>
            <a:ext cx="4389120" cy="649224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0" y="5340096"/>
            <a:ext cx="4206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PC con 192.168.2.x tratando de comunicarse con 192.168.1.x.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5285232"/>
            <a:ext cx="4389120" cy="6492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0" y="5340096"/>
            <a:ext cx="4206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Asignar IPs dentro del mismo segmento de red.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Ejemplo Completo de Direccionamiento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04040"/>
                </a:solidFill>
              </a:rPr>
              <a:t>Tabla de asignación para una topología con 2 routers y 3 PCs: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1554480" cy="5943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011680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Dispositivo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1920240"/>
            <a:ext cx="1371600" cy="5943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2" y="201168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920240"/>
            <a:ext cx="1645920" cy="5943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01168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920240"/>
            <a:ext cx="1783080" cy="5943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2011680"/>
            <a:ext cx="1709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Máscara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920240"/>
            <a:ext cx="1828799" cy="5943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2011680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Gateway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920240"/>
            <a:ext cx="2971800" cy="5943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2011680"/>
            <a:ext cx="2898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542032"/>
            <a:ext cx="1554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633472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Router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2542032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93392" y="2633472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Router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542032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2633472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192.168.1.1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2542032"/>
            <a:ext cx="1783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3792" y="2633472"/>
            <a:ext cx="1709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255.255.255.0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2542032"/>
            <a:ext cx="182879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2633472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2542032"/>
            <a:ext cx="2971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42832" y="2633472"/>
            <a:ext cx="2898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Gateway principal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163824"/>
            <a:ext cx="155448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3255264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Router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3163824"/>
            <a:ext cx="137160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93392" y="3255264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Router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3163824"/>
            <a:ext cx="164592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56432" y="3255264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192.168.1.2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3163824"/>
            <a:ext cx="178308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93792" y="3255264"/>
            <a:ext cx="1709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255.255.255.0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3163824"/>
            <a:ext cx="1828799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22592" y="3255264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3163824"/>
            <a:ext cx="297180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42832" y="3255264"/>
            <a:ext cx="2898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Router secundario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785616"/>
            <a:ext cx="1554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3877056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PC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20240" y="3785616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93392" y="3877056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Host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3785616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56432" y="3877056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192.168.1.10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0" y="3785616"/>
            <a:ext cx="1783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93792" y="3877056"/>
            <a:ext cx="1709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255.255.255.0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3785616"/>
            <a:ext cx="182879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22592" y="3877056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192.168.1.1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69680" y="3785616"/>
            <a:ext cx="2971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42832" y="3877056"/>
            <a:ext cx="2898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Computador usuario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407408"/>
            <a:ext cx="155448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4498848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PC 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4407408"/>
            <a:ext cx="137160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93392" y="4498848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Host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83280" y="4407408"/>
            <a:ext cx="164592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56432" y="4498848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192.168.1.11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20640" y="4407408"/>
            <a:ext cx="178308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93792" y="4498848"/>
            <a:ext cx="1709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255.255.255.0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9440" y="4407408"/>
            <a:ext cx="1828799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22592" y="4498848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192.168.1.1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69680" y="4407408"/>
            <a:ext cx="297180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42832" y="4498848"/>
            <a:ext cx="2898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Computador usuario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5029200"/>
            <a:ext cx="1554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7472" y="5120640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PC 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20240" y="5029200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93392" y="512064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Host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80" y="502920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56432" y="512064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192.168.1.12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20640" y="5029200"/>
            <a:ext cx="1783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93792" y="5120640"/>
            <a:ext cx="1709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255.255.255.0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49440" y="5029200"/>
            <a:ext cx="182879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22592" y="5120640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192.168.1.1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69680" y="5029200"/>
            <a:ext cx="2971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42832" y="5120640"/>
            <a:ext cx="2898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404040"/>
                </a:solidFill>
              </a:rPr>
              <a:t>Computador usuario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Actividad Práctica en Packet Tracer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486400" cy="5029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1F396E"/>
                </a:solidFill>
              </a:rPr>
              <a:t>Instrucciones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Insertar 1 router, 1 switch y 2 PCs.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Conectar: PCs → Switch → Router.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Configurar Router 1 (interfaz G0/0):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   IP: 192.168.1.1 / Máscara: 255.255.255.0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   Comando: no shutdown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Configurar PC 1: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   IP: 192.168.1.10 | Máscara: 255.255.255.0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   Gateway: 192.168.1.1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Configurar PC 2: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   IP: 192.168.1.11 | Máscara: 255.255.255.0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   Gateway: 192.168.1.1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Verificar con ping entre todos los dispositivos.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5669280" cy="5029200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E87A10"/>
                </a:solidFill>
              </a:rPr>
              <a:t>Preguntas de análisis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▸ ¿Qué ocurre si dos PCs tienen la misma IP?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▸ ¿Por qué 192.168.1.0 no se puede usar para hosts?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▸ ¿Por qué 192.168.1.255 no se puede usar para hosts?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▸ ¿Qué pasa si el gateway está configurado mal?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▸ ¿Por qué conviene reservar IPs para los routers?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▸ ¿Cuántos hosts caben en la red 192.168.1.0/24?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404040"/>
                </a:solidFill>
              </a:rPr>
              <a:t>▸ Una buena organización del direccionamiento IP evita conflictos y facilita la administración.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404040"/>
                </a:solidFill>
              </a:rPr>
              <a:t>▸ La dirección 192.168.1.0 identifica la red y no se asigna a ningún host.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404040"/>
                </a:solidFill>
              </a:rPr>
              <a:t>▸ Las IPs 192.168.1.1 – 192.168.1.9 se reservan para routers en esta práctica.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404040"/>
                </a:solidFill>
              </a:rPr>
              <a:t>▸ Los computadores y dispositivos finales usan IPs a partir de 192.168.1.10.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404040"/>
                </a:solidFill>
              </a:rPr>
              <a:t>▸ Siempre verificar: IP única, máscara correcta, gateway correcto e interfaz activa.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404040"/>
                </a:solidFill>
              </a:rPr>
              <a:t>▸ El comando ping es la herramienta de verificación básica de conectividad.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669280"/>
            <a:ext cx="11430000" cy="73152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73328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Regla resumen:  Routers → 192.168.1.1 a .9  |  Computadores → 192.168.1.10 en adelante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91695" cy="73152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800">
                <a:solidFill>
                  <a:srgbClr val="FFFFFF"/>
                </a:solidFill>
              </a:rPr>
              <a:t>¿Preguntas?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200">
                <a:solidFill>
                  <a:srgbClr val="BDD7EE"/>
                </a:solidFill>
              </a:rPr>
              <a:t>Recuerden: cada dispositivo necesita una IP única, una máscara correcta
y el gateway del router para comunicarse correctamente.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206240"/>
            <a:ext cx="5943600" cy="45720"/>
          </a:xfrm>
          <a:prstGeom prst="rect">
            <a:avLst/>
          </a:prstGeom>
          <a:solidFill>
            <a:srgbClr val="E8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600">
                <a:solidFill>
                  <a:srgbClr val="BDD7EE"/>
                </a:solidFill>
              </a:rPr>
              <a:t>Configuración de IPs en Packet Tracer  |  Red 192.168.1.0/24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00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BDD7EE"/>
                </a:solidFill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